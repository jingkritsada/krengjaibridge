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8"/>
  </p:handoutMasterIdLst>
  <p:sldIdLst>
    <p:sldId id="283" r:id="rId3"/>
    <p:sldId id="284" r:id="rId7"/>
    <p:sldId id="285" r:id="rId6"/>
    <p:sldId id="286" r:id="rId5"/>
    <p:sldId id="287" r:id="rId12"/>
    <p:sldId id="288" r:id="rId13"/>
    <p:sldId id="289" r:id="rId14"/>
    <p:sldId id="290" r:id="rId15"/>
    <p:sldId id="291" r:id="rId16"/>
    <p:sldId id="292" r:id="rId17"/>
    <p:sldId id="293" r:id="rId18"/>
    <p:sldId id="294" r:id="rId19"/>
    <p:sldId id="295" r:id="rId20"/>
    <p:sldId id="296" r:id="rId21"/>
    <p:sldId id="297" r:id="rId22"/>
  </p:sldIdLst>
  <p:sldSz cx="1219644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Page" id="{E8D0D622-F6C6-F44A-B365-B4A5FF6195C2}">
          <p14:sldIdLst>
            <p14:sldId id="283"/>
          </p14:sldIdLst>
        </p14:section>
        <p14:section name="Contents" id="{9D221634-295C-7843-AF5C-A0CB4F229241}">
          <p14:sldIdLst>
            <p14:sldId id="308"/>
          </p14:sldIdLst>
        </p14:section>
        <p14:section name="Main Content" id="{8B329A26-90A3-4BA4-87BF-D0343B7D7105}">
          <p14:sldIdLst>
            <p14:sldId id="307"/>
          </p14:sldIdLst>
        </p14:section>
        <p14:section name="End Page" id="{3F9D54A7-3BE2-2540-BB4C-DFE5509085F3}">
          <p14:sldIdLst>
            <p14:sldId id="28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5F55B2"/>
    <a:srgbClr val="7C54B2"/>
    <a:srgbClr val="000000"/>
    <a:srgbClr val="E9002F"/>
    <a:srgbClr val="595757"/>
    <a:srgbClr val="221815"/>
    <a:srgbClr val="888888"/>
    <a:srgbClr val="898989"/>
    <a:srgbClr val="B5B5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72833802-FEF1-4C79-8D5D-14CF1EAF98D9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47" autoAdjust="0"/>
    <p:restoredTop sz="96291"/>
  </p:normalViewPr>
  <p:slideViewPr>
    <p:cSldViewPr snapToGrid="0" snapToObjects="1">
      <p:cViewPr varScale="1">
        <p:scale>
          <a:sx n="95" d="100"/>
          <a:sy n="95" d="100"/>
        </p:scale>
        <p:origin x="346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Title** (template slide 1). Line 2 box: "Chulalongkorn University · [[Team Name]] · Kreng-jai Bridge".</a:t>
            </a:r>
          </a:p>
          <a:p>
            <a:r>
              <a:t>   Add subtitle: "An AI agent that speaks up for Thai teams — and proves the feedback can't be traced back."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The problem nobody says out loud**</a:t>
            </a:r>
          </a:p>
          <a:p>
            <a:r>
              <a:t>   Left: three moments (icons + one line each): "PR waits 3 days — the junior won't chase a senior",</a:t>
            </a:r>
          </a:p>
          <a:p>
            <a:r>
              <a:t>   "Blocker never mentioned in stand-up", "Urgent work lands at 17:30 every Friday".</a:t>
            </a:r>
          </a:p>
          <a:p>
            <a:r>
              <a:t>   Right: big stats — "50% of developers lose &gt;10 h/week to non-coding friction", "63% say leaders don't</a:t>
            </a:r>
          </a:p>
          <a:p>
            <a:r>
              <a:t>   understand their problems" (Atlassian DevEx 2025). Footer: "Kreng-jai keeps teams polite — and problems unsaid."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Why 'anonymous' tools fail in Thai teams**</a:t>
            </a:r>
          </a:p>
          <a:p>
            <a:r>
              <a:t>   Example card: "หนูไม่กล้าบอกพี่หัวหน้าค่ะ ว่าสั่งงานเย็นวันศุกร์ทำให้หนูต้องยกเลิกนัดตลอด" with หนู/ค่ะ/พี่ highlighted</a:t>
            </a:r>
          </a:p>
          <a:p>
            <a:r>
              <a:t>   in red → callout "1 word reveals gender + seniority". Bullets: "In a team of 5 the manager can guess the</a:t>
            </a:r>
          </a:p>
          <a:p>
            <a:r>
              <a:t>   writer", "Quarterly surveys are too late and never follow up", "Every tool waits for people to speak".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Our idea: the agent takes the hard-to-say role**</a:t>
            </a:r>
          </a:p>
          <a:p>
            <a:r>
              <a:t>   Three steps horizontally: Observe (SDLC metadata only) → Ask (private LINE message, the person decides) →</a:t>
            </a:r>
          </a:p>
          <a:p>
            <a:r>
              <a:t>   Act (neutral reminder or anonymous feedback). Line: "A bot has no seniority, no face to lose, no debt to anyone."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Demo story: two weeks of Mint**</a:t>
            </a:r>
          </a:p>
          <a:p>
            <a:r>
              <a:t>   Timeline (8 steps from the concept: Tue PR #123 → Thu 48 h trigger → LINE ask → neutral reminder w/o name →</a:t>
            </a:r>
          </a:p>
          <a:p>
            <a:r>
              <a:t>   Fri feedback → k=3 reached → Mon manager accepts 15:00 cut-off → +2 weeks Friday after-17 work 3 → 0).</a:t>
            </a:r>
          </a:p>
          <a:p>
            <a:r>
              <a:t>   Screenshot: `assets/screen-inbox.png` (LINE-style inbox).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Privacy pipeline: 6 steps, tested by an attacker**</a:t>
            </a:r>
          </a:p>
          <a:p>
            <a:r>
              <a:t>   Diagram of 6 steps (remove identifiers → neutralize Thai markers → rewrite ⇄ attacker → situation/impact/request</a:t>
            </a:r>
          </a:p>
          <a:p>
            <a:r>
              <a:t>   → k-gate (k=3) → themes). Before/after example: original (red markers) → "สถานการณ์: มีการมอบหมายงานในช่วงเย็นวันศุกร์ ·</a:t>
            </a:r>
          </a:p>
          <a:p>
            <a:r>
              <a:t>   ผลกระทบ: ต้องยกเลิกนัดหมายส่วนตัวอย่างต่อเนื่อง · สิ่งที่ขอ: พิจารณาปรับกระบวนการวางแผนงาน". Screenshot `assets/screen-pipeline.png`.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Results: anonymity you can measure**</a:t>
            </a:r>
          </a:p>
          <a:p>
            <a:r>
              <a:t>   Chart `eval/results/attacker_before_after.png` large. Callouts with the 3 strongest numbers from</a:t>
            </a:r>
          </a:p>
          <a:p>
            <a:r>
              <a:t>   results.json (author attribution before→after vs 5% chance; gender inference; marker leak). Footnote:</a:t>
            </a:r>
          </a:p>
          <a:p>
            <a:r>
              <a:t>   "Synthetic Thai dataset, 20 personas × 12 messages; pilot with real volunteers next."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Results: detection and meaning**</a:t>
            </a:r>
          </a:p>
          <a:p>
            <a:r>
              <a:t>   `eval/results/engine.png` + meaning stat (% judged ≥ 4/5) + theme clustering ARI + pipeline latency.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Manager loop closes the circle**</a:t>
            </a:r>
          </a:p>
          <a:p>
            <a:r>
              <a:t>   Screenshot `assets/screen-manager.png`. Bullets: themes as ranges (3–5 people), AI proposal, reply via</a:t>
            </a:r>
          </a:p>
          <a:p>
            <a:r>
              <a:t>   anonymous token, follow-up metric before → after.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Architecture on Huawei Cloud**</a:t>
            </a:r>
          </a:p>
          <a:p>
            <a:r>
              <a:t>    `assets/architecture.png` full width.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Built with AI agents on Huawei Cloud**</a:t>
            </a:r>
          </a:p>
          <a:p>
            <a:r>
              <a:t>    Lifecycle row: Requirement → Code generation → Build → Troubleshoot → Deploy, each with 1 line from entry-form §2</a:t>
            </a:r>
          </a:p>
          <a:p>
            <a:r>
              <a:t>    (contract-first; parallel coding agents; one FastAPI + Docker; region/IAM fixes; ECS + Caddy + LINE webhook).</a:t>
            </a:r>
          </a:p>
          <a:p>
            <a:r>
              <a:t>    Callout: "Agent skill provisions VPC · ECS · RDS · DCS in one command (`skills/huawei-cloud-provision`)".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Privacy by design (PDPA)**</a:t>
            </a:r>
          </a:p>
          <a:p>
            <a:r>
              <a:t>    6 rules as icon grid: metadata only · opt-in · individual signals only to the person · originals deleted ·</a:t>
            </a:r>
          </a:p>
          <a:p>
            <a:r>
              <a:t>    identities hashed, tokens encrypted · honest limits (tells you when the team is too small).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Why we win** — comparison table (rows: survey tools Officevibe/TINYpulse/Lattice; burnout analytics</a:t>
            </a:r>
          </a:p>
          <a:p>
            <a:r>
              <a:t>    Viva Insights/Uplevel; engineering metrics LinearB/Swarmia; Thai HR systems) × columns (acts for the employee,</a:t>
            </a:r>
          </a:p>
          <a:p>
            <a:r>
              <a:t>    tested anonymity, Thai language/LINE, closes the loop with metrics). Kreng-jai Bridge row all ✓.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Roadmap**</a:t>
            </a:r>
          </a:p>
          <a:p>
            <a:r>
              <a:t>    Now (demo) → Next 4 weeks: pilot with 2 real teams, real-volunteer D1 dataset, MaaS DeepSeek/Typhoon 2,</a:t>
            </a:r>
          </a:p>
          <a:p>
            <a:r>
              <a:t>    RDS/DCS via skill, CodeArts CI → Later: Lark, multi-tenant, calendar signals.</a:t>
            </a:r>
          </a:p>
          <a:p>
            <a:r>
              <a:t>    Business: buyer = HR / CTO of Thai software houses &amp; banks; uses existing engagement-survey budget.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End** (template end slide): "Thank you · Live demo: https://119-13-81-32.sslip.io · LINE @075bvvrs".</a:t>
            </a:r>
          </a:p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6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图片 15" descr="炫光（浅色）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760855"/>
            <a:ext cx="12192000" cy="4523105"/>
          </a:xfrm>
          <a:prstGeom prst="rect">
            <a:avLst/>
          </a:prstGeom>
        </p:spPr>
      </p:pic>
      <p:pic>
        <p:nvPicPr>
          <p:cNvPr id="2" name="图片 1" descr="【主用】奔跑的人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16020" y="2538095"/>
            <a:ext cx="4540885" cy="2846070"/>
          </a:xfrm>
          <a:prstGeom prst="rect">
            <a:avLst/>
          </a:prstGeom>
        </p:spPr>
      </p:pic>
      <p:pic>
        <p:nvPicPr>
          <p:cNvPr id="18" name="图片 17" descr="D:/01.姜嘉伟/设计源文件/ICT大赛/总决赛第十届ICT大赛2025-2026设计/华为ICT大赛2025-2026 KV/KV元素 浅色/华为logo（浅色背景使用）.png华为logo（浅色背景使用）"/>
          <p:cNvPicPr>
            <a:picLocks noChangeAspect="1"/>
          </p:cNvPicPr>
          <p:nvPr userDrawn="1"/>
        </p:nvPicPr>
        <p:blipFill>
          <a:blip r:embed="rId5"/>
          <a:srcRect t="85" b="85"/>
          <a:stretch>
            <a:fillRect/>
          </a:stretch>
        </p:blipFill>
        <p:spPr>
          <a:xfrm>
            <a:off x="386715" y="375285"/>
            <a:ext cx="1501140" cy="328295"/>
          </a:xfrm>
          <a:prstGeom prst="rect">
            <a:avLst/>
          </a:prstGeom>
        </p:spPr>
      </p:pic>
      <p:pic>
        <p:nvPicPr>
          <p:cNvPr id="19" name="图片 18" descr="I. C. The Future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297160" y="6313170"/>
            <a:ext cx="1516380" cy="170180"/>
          </a:xfrm>
          <a:prstGeom prst="rect">
            <a:avLst/>
          </a:prstGeom>
        </p:spPr>
      </p:pic>
      <p:sp>
        <p:nvSpPr>
          <p:cNvPr id="8" name="文本框 7"/>
          <p:cNvSpPr txBox="1"/>
          <p:nvPr userDrawn="1"/>
        </p:nvSpPr>
        <p:spPr>
          <a:xfrm>
            <a:off x="1403985" y="1127125"/>
            <a:ext cx="936625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200" b="1" spc="-100">
                <a:gradFill>
                  <a:gsLst>
                    <a:gs pos="0">
                      <a:srgbClr val="1065C5"/>
                    </a:gs>
                    <a:gs pos="100000">
                      <a:srgbClr val="00397B"/>
                    </a:gs>
                  </a:gsLst>
                  <a:lin ang="0" scaled="0"/>
                </a:gradFill>
                <a:uFillTx/>
                <a:latin typeface="Huawei Sans" panose="020C0503030203020204" charset="0"/>
                <a:cs typeface="Huawei Sans" panose="020C0503030203020204" charset="0"/>
              </a:rPr>
              <a:t>HUAWEI ICT COMPETITION 2026–2027</a:t>
            </a:r>
            <a:endParaRPr lang="en-US" altLang="zh-CN" sz="3200" b="1" spc="-100">
              <a:gradFill>
                <a:gsLst>
                  <a:gs pos="0">
                    <a:srgbClr val="1065C5"/>
                  </a:gs>
                  <a:gs pos="100000">
                    <a:srgbClr val="00397B"/>
                  </a:gs>
                </a:gsLst>
                <a:lin ang="0" scaled="0"/>
              </a:gradFill>
              <a:uFillTx/>
              <a:latin typeface="Huawei Sans" panose="020C0503030203020204" charset="0"/>
              <a:cs typeface="Huawei Sans" panose="020C050303020302020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图片 15" descr="炫光（浅色）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2334895"/>
            <a:ext cx="12192000" cy="4523105"/>
          </a:xfrm>
          <a:prstGeom prst="rect">
            <a:avLst/>
          </a:prstGeom>
        </p:spPr>
      </p:pic>
      <p:pic>
        <p:nvPicPr>
          <p:cNvPr id="6" name="图片 5" descr="【主用】奔跑的人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16020" y="3112135"/>
            <a:ext cx="4540885" cy="2846070"/>
          </a:xfrm>
          <a:prstGeom prst="rect">
            <a:avLst/>
          </a:prstGeom>
        </p:spPr>
      </p:pic>
      <p:pic>
        <p:nvPicPr>
          <p:cNvPr id="18" name="图片 17" descr="D:/01.姜嘉伟/设计源文件/ICT大赛/总决赛第十届ICT大赛2025-2026设计/华为ICT大赛2025-2026 KV/KV元素 浅色/华为logo（浅色背景使用）.png华为logo（浅色背景使用）"/>
          <p:cNvPicPr>
            <a:picLocks noChangeAspect="1"/>
          </p:cNvPicPr>
          <p:nvPr userDrawn="1"/>
        </p:nvPicPr>
        <p:blipFill>
          <a:blip r:embed="rId5"/>
          <a:srcRect t="85" b="85"/>
          <a:stretch>
            <a:fillRect/>
          </a:stretch>
        </p:blipFill>
        <p:spPr>
          <a:xfrm>
            <a:off x="386715" y="375285"/>
            <a:ext cx="1501140" cy="328295"/>
          </a:xfrm>
          <a:prstGeom prst="rect">
            <a:avLst/>
          </a:prstGeom>
        </p:spPr>
      </p:pic>
      <p:pic>
        <p:nvPicPr>
          <p:cNvPr id="19" name="图片 18" descr="I. C. The Future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297160" y="6313170"/>
            <a:ext cx="1516380" cy="1701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图片 15" descr="炫光（浅色）"/>
          <p:cNvPicPr>
            <a:picLocks noChangeAspect="1"/>
          </p:cNvPicPr>
          <p:nvPr userDrawn="1"/>
        </p:nvPicPr>
        <p:blipFill>
          <a:blip r:embed="rId3">
            <a:alphaModFix amt="20000"/>
          </a:blip>
          <a:srcRect b="25807"/>
          <a:stretch>
            <a:fillRect/>
          </a:stretch>
        </p:blipFill>
        <p:spPr>
          <a:xfrm>
            <a:off x="0" y="4289425"/>
            <a:ext cx="12192000" cy="2568575"/>
          </a:xfrm>
          <a:prstGeom prst="rect">
            <a:avLst/>
          </a:prstGeom>
        </p:spPr>
      </p:pic>
      <p:pic>
        <p:nvPicPr>
          <p:cNvPr id="19" name="图片 18" descr="I. C. The Future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7160" y="6313170"/>
            <a:ext cx="1516380" cy="1701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图片 15" descr="炫光（浅色）"/>
          <p:cNvPicPr>
            <a:picLocks noChangeAspect="1"/>
          </p:cNvPicPr>
          <p:nvPr userDrawn="1"/>
        </p:nvPicPr>
        <p:blipFill>
          <a:blip r:embed="rId3"/>
          <a:srcRect b="25807"/>
          <a:stretch>
            <a:fillRect/>
          </a:stretch>
        </p:blipFill>
        <p:spPr>
          <a:xfrm>
            <a:off x="0" y="4289425"/>
            <a:ext cx="12192000" cy="2568575"/>
          </a:xfrm>
          <a:prstGeom prst="rect">
            <a:avLst/>
          </a:prstGeom>
        </p:spPr>
      </p:pic>
      <p:pic>
        <p:nvPicPr>
          <p:cNvPr id="18" name="图片 17" descr="D:/01.姜嘉伟/设计源文件/ICT大赛/总决赛第十届ICT大赛2025-2026设计/华为ICT大赛2025-2026 KV/KV元素 浅色/华为logo（浅色背景使用）.png华为logo（浅色背景使用）"/>
          <p:cNvPicPr>
            <a:picLocks noChangeAspect="1"/>
          </p:cNvPicPr>
          <p:nvPr userDrawn="1"/>
        </p:nvPicPr>
        <p:blipFill>
          <a:blip r:embed="rId4"/>
          <a:srcRect t="85" b="85"/>
          <a:stretch>
            <a:fillRect/>
          </a:stretch>
        </p:blipFill>
        <p:spPr>
          <a:xfrm>
            <a:off x="386715" y="375285"/>
            <a:ext cx="1501140" cy="328295"/>
          </a:xfrm>
          <a:prstGeom prst="rect">
            <a:avLst/>
          </a:prstGeom>
        </p:spPr>
      </p:pic>
      <p:pic>
        <p:nvPicPr>
          <p:cNvPr id="19" name="图片 18" descr="I. C. The Future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97160" y="6313170"/>
            <a:ext cx="1516380" cy="170180"/>
          </a:xfrm>
          <a:prstGeom prst="rect">
            <a:avLst/>
          </a:prstGeom>
        </p:spPr>
      </p:pic>
      <p:pic>
        <p:nvPicPr>
          <p:cNvPr id="2" name="图片 1" descr="【主用】奔跑的人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918575" y="4665345"/>
            <a:ext cx="2900680" cy="18180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  <a:endParaRPr lang="en-US" sz="4800" dirty="0">
              <a:solidFill>
                <a:schemeClr val="tx1"/>
              </a:solidFill>
            </a:endParaRPr>
          </a:p>
        </p:txBody>
      </p:sp>
      <p:sp>
        <p:nvSpPr>
          <p:cNvPr id="6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Copyright©2025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  <a:endParaRPr kumimoji="1" lang="en-US" altLang="zh-CN" sz="850" baseline="0" dirty="0">
              <a:solidFill>
                <a:srgbClr val="1D1D1B"/>
              </a:solidFill>
              <a:latin typeface="+mn-lt"/>
              <a:cs typeface="Arial" panose="020B0604020202020204" pitchFamily="34" charset="0"/>
            </a:endParaRP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7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  <a:endParaRPr kumimoji="1" lang="zh-CN" altLang="en-US" sz="1300" dirty="0">
              <a:solidFill>
                <a:srgbClr val="1D1D1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9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72693" y="730467"/>
            <a:ext cx="11340537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sz="3000" b="1">
                <a:solidFill>
                  <a:srgbClr val="1D2742"/>
                </a:solidFill>
                <a:latin typeface="Arial"/>
              </a:rPr>
              <a:t>Huawei ICT Competition 2026–2027</a:t>
            </a:r>
            <a:endParaRPr lang="en-US" altLang="zh-CN" sz="3200" b="1" spc="-150" dirty="0">
              <a:gradFill>
                <a:gsLst>
                  <a:gs pos="0">
                    <a:srgbClr val="7030A0"/>
                  </a:gs>
                  <a:gs pos="100000">
                    <a:srgbClr val="0070C0"/>
                  </a:gs>
                </a:gsLst>
                <a:lin ang="2700000" scaled="0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3000" b="1">
                <a:solidFill>
                  <a:srgbClr val="1D2742"/>
                </a:solidFill>
                <a:latin typeface="Arial"/>
              </a:rPr>
              <a:t>Innovation Competition</a:t>
            </a:r>
          </a:p>
        </p:txBody>
      </p:sp>
      <p:sp>
        <p:nvSpPr>
          <p:cNvPr id="3" name="矩形 2"/>
          <p:cNvSpPr/>
          <p:nvPr/>
        </p:nvSpPr>
        <p:spPr>
          <a:xfrm>
            <a:off x="502920" y="1993392"/>
            <a:ext cx="11155680" cy="5029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ts val="600"/>
              </a:spcBef>
            </a:pPr>
            <a:r>
              <a:rPr sz="2000" b="1">
                <a:solidFill>
                  <a:srgbClr val="1D2742"/>
                </a:solidFill>
                <a:latin typeface="Arial"/>
              </a:rPr>
              <a:t>Chulalongkorn University · </a:t>
            </a:r>
            <a:r>
              <a:rPr sz="2000" b="1">
                <a:solidFill>
                  <a:srgbClr val="1D2742"/>
                </a:solidFill>
                <a:highlight>
                  <a:srgbClr val="FFF176"/>
                </a:highlight>
                <a:latin typeface="Arial"/>
              </a:rPr>
              <a:t>[[TODO: team name]]</a:t>
            </a:r>
            <a:r>
              <a:rPr sz="2000" b="1">
                <a:solidFill>
                  <a:srgbClr val="1D2742"/>
                </a:solidFill>
                <a:latin typeface="Arial"/>
              </a:rPr>
              <a:t> · Kreng-jai Bridge</a:t>
            </a:r>
            <a:endParaRPr lang="en-US" altLang="zh-CN" sz="2000" b="1" spc="-150" dirty="0">
              <a:gradFill>
                <a:gsLst>
                  <a:gs pos="0">
                    <a:srgbClr val="7030A0"/>
                  </a:gs>
                  <a:gs pos="100000">
                    <a:srgbClr val="0070C0"/>
                  </a:gs>
                </a:gsLst>
                <a:lin ang="2700000" scaled="0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2606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1D2742"/>
                </a:solidFill>
                <a:latin typeface="Arial"/>
              </a:rPr>
              <a:t>An AI agent that speaks up for Thai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With attacker-tested Thai feedback privacy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The problem nobody says out loud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640080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6B4FD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36776"/>
            <a:ext cx="5120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0">
                <a:solidFill>
                  <a:srgbClr val="1D2742"/>
                </a:solidFill>
                <a:latin typeface="Arial"/>
              </a:rPr>
              <a:t>PR waits 3 days; the junior won’t chase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640080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6B4FD8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871216"/>
            <a:ext cx="5120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A blocker stays unsaid in stand-up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86200"/>
            <a:ext cx="640080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6B4FD8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105656"/>
            <a:ext cx="5120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Urgent work lands Friday at 17:30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5087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3157D5"/>
                </a:solidFill>
                <a:latin typeface="Arial"/>
              </a:rP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2860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lose &gt;10 h/week to non-coding friction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47472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3157D5"/>
                </a:solidFill>
                <a:latin typeface="Arial"/>
              </a:rPr>
              <a:t>63%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4251959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say leaders don’t understand their problems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Atlassian DevEx 2025 · Kreng-jai keeps teams polite — and problems unsaid.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Why anonymous tools fail in Thai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65836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60350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หนู</a:t>
            </a:r>
            <a:r>
              <a:rPr sz="24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ไม่กล้าบอก</a:t>
            </a:r>
            <a:r>
              <a:rPr sz="2400" b="0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พี่</a:t>
            </a:r>
            <a:r>
              <a:rPr sz="24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หัวหน้า</a:t>
            </a:r>
            <a:r>
              <a:rPr sz="2400" b="0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ค่ะ</a:t>
            </a:r>
            <a:r>
              <a:rPr sz="2400" b="0">
                <a:solidFill>
                  <a:srgbClr val="1D2742"/>
                </a:solidFill>
                <a:latin typeface="Arial"/>
              </a:rPr>
              <a:t> </a:t>
            </a:r>
            <a:r>
              <a:rPr sz="24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ว่าสั่งงานเย็นวันศุกร์ทำให้</a:t>
            </a:r>
            <a:r>
              <a:rPr sz="2400" b="0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หนู</a:t>
            </a:r>
            <a:r>
              <a:rPr sz="24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ต้องยกเลิกนัดตลอด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5943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C7362F"/>
                </a:solidFill>
                <a:latin typeface="Arial"/>
              </a:rPr>
              <a:t>One word can reveal gender + seniority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645920"/>
            <a:ext cx="41148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Small teams make writers guessable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Quarterly surveys arrive too late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Tools wait for people to speak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The agent takes the hard-to-say role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347472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Observe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SDLC metadata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1874519"/>
            <a:ext cx="347472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2103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088" y="22402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7" y="310896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100" b="0">
                <a:solidFill>
                  <a:srgbClr val="1D2742"/>
                </a:solidFill>
                <a:latin typeface="Arial"/>
              </a:rPr>
              <a:t>Private LINE message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100" b="0">
                <a:solidFill>
                  <a:srgbClr val="1D2742"/>
                </a:solidFill>
                <a:latin typeface="Arial"/>
              </a:rPr>
              <a:t>The person decides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0456" y="1874519"/>
            <a:ext cx="347472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2103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6" y="22402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4776" y="310896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Neutral reminder or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anonymous feedback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A bot has no seniority, no face to lose, no debt to anyone.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Demo story: two weeks of Mint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49047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81328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Tue · PR #123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50008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5146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05456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Thu · 48 h trigger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74136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5387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29584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Private LINE ask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98264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4562856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553712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Reminder; no requester name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325880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831" y="149047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79" y="1481328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Fri · Feedback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350008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1" y="25146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79" y="2505456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k = 3 reached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3374136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0831" y="35387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79" y="3529584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Mon · 15:00 cut-off accepted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4398264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1" y="4562856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79" y="4553712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+2 weeks · Late-Friday work 3 → 0</a:t>
            </a:r>
          </a:p>
        </p:txBody>
      </p:sp>
      <p:pic>
        <p:nvPicPr>
          <p:cNvPr id="27" name="Picture 26" descr="screen-in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3033" y="1188720"/>
            <a:ext cx="2207812" cy="4480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SYNTHETIC demo scenario · The 3 → 0 follow-up is simulated.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Six privacy steps, tested by an attacker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39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3157D5"/>
                </a:solidFill>
                <a:latin typeface="Arial"/>
              </a:rPr>
              <a:t>1. Remove identifiers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39" y="1325880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28999" y="1463039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3157D5"/>
                </a:solidFill>
                <a:latin typeface="Arial"/>
              </a:rPr>
              <a:t>2. Neutralize Thai markers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59" y="1325880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463039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3157D5"/>
                </a:solidFill>
                <a:latin typeface="Arial"/>
              </a:rPr>
              <a:t>3. Rewrite ⇄ attacker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67712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04872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3157D5"/>
                </a:solidFill>
                <a:latin typeface="Arial"/>
              </a:rPr>
              <a:t>4. Situation / impact /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267712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8999" y="2404872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3157D5"/>
                </a:solidFill>
                <a:latin typeface="Arial"/>
              </a:rPr>
              <a:t>5. k-gate: 3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59" y="2267712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404872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3157D5"/>
                </a:solidFill>
                <a:latin typeface="Arial"/>
              </a:rPr>
              <a:t>6. Cluster themes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01568"/>
            <a:ext cx="7680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หนู</a:t>
            </a:r>
            <a:r>
              <a:rPr sz="2200" b="1">
                <a:solidFill>
                  <a:srgbClr val="C7362F"/>
                </a:solidFill>
                <a:latin typeface="Arial"/>
              </a:rPr>
              <a:t> / </a:t>
            </a:r>
            <a:r>
              <a:rPr sz="2200" b="1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ค่ะ</a:t>
            </a:r>
            <a:r>
              <a:rPr sz="2200" b="1">
                <a:solidFill>
                  <a:srgbClr val="C7362F"/>
                </a:solidFill>
                <a:latin typeface="Arial"/>
              </a:rPr>
              <a:t> / </a:t>
            </a:r>
            <a:r>
              <a:rPr sz="2200" b="1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พี่</a:t>
            </a:r>
            <a:r>
              <a:rPr sz="2200" b="1">
                <a:solidFill>
                  <a:srgbClr val="C7362F"/>
                </a:solidFill>
                <a:latin typeface="Arial"/>
              </a:rPr>
              <a:t>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8"/>
            <a:ext cx="7772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สถานการณ์</a:t>
            </a:r>
            <a:r>
              <a:rPr sz="1500" b="0">
                <a:solidFill>
                  <a:srgbClr val="1D2742"/>
                </a:solidFill>
                <a:latin typeface="Arial"/>
              </a:rPr>
              <a:t>: </a:t>
            </a:r>
            <a:r>
              <a:rPr sz="15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มีการมอบหมายงานในช่วงเย็นวันศุกร์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ผลกระทบ</a:t>
            </a:r>
            <a:r>
              <a:rPr sz="1500" b="0">
                <a:solidFill>
                  <a:srgbClr val="1D2742"/>
                </a:solidFill>
                <a:latin typeface="Arial"/>
              </a:rPr>
              <a:t>: </a:t>
            </a:r>
            <a:r>
              <a:rPr sz="15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ต้องยกเลิกนัดหมายส่วนตัวอย่างต่อเนื่อง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สิ่งที่ขอ</a:t>
            </a:r>
            <a:r>
              <a:rPr sz="1500" b="0">
                <a:solidFill>
                  <a:srgbClr val="1D2742"/>
                </a:solidFill>
                <a:latin typeface="Arial"/>
              </a:rPr>
              <a:t>: </a:t>
            </a:r>
            <a:r>
              <a:rPr sz="15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พิจารณาปรับกระบวนการวางแผนงาน</a:t>
            </a:r>
          </a:p>
        </p:txBody>
      </p:sp>
      <p:pic>
        <p:nvPicPr>
          <p:cNvPr id="17" name="Picture 16" descr="scree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3154" y="1234440"/>
            <a:ext cx="2136251" cy="44805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The user previews and confirms; an unsafe rewrite is blocked.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Results: measure privacy, acknowledge the limits</a:t>
            </a:r>
          </a:p>
        </p:txBody>
      </p:sp>
      <p:pic>
        <p:nvPicPr>
          <p:cNvPr id="3" name="Picture 2" descr="attacker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8770"/>
            <a:ext cx="7452360" cy="37261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75320" y="1234440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000" b="1">
                <a:solidFill>
                  <a:srgbClr val="3157D5"/>
                </a:solidFill>
                <a:latin typeface="Arial"/>
              </a:rPr>
              <a:t>3.8%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75320" y="2011680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author identified by stylometry (was 100.0%; chance 5%)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2715768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000" b="1">
                <a:solidFill>
                  <a:srgbClr val="3157D5"/>
                </a:solidFill>
                <a:latin typeface="Arial"/>
              </a:rPr>
              <a:t>46.2%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3493008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gender guessed correctly (was 93.8%; chance 50%)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419709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000" b="1">
                <a:solidFill>
                  <a:srgbClr val="3157D5"/>
                </a:solidFill>
                <a:latin typeface="Arial"/>
              </a:rPr>
              <a:t>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974336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texts with Thai gender/seniority markers (was 95.0%)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SYNTHETIC · 20 personas × 12 messages; 80 test outputs · LLM attacker 7.5% vs 5.0% chance. No anonymity guarantee.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Results: detection and meaning</a:t>
            </a:r>
          </a:p>
        </p:txBody>
      </p:sp>
      <p:pic>
        <p:nvPicPr>
          <p:cNvPr id="3" name="Picture 2" descr="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44751"/>
            <a:ext cx="6537960" cy="392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28016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3157D5"/>
                </a:solidFill>
                <a:latin typeface="Arial"/>
              </a:rPr>
              <a:t>57.5%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057400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meaning judged ≥ 4/5; all 80 outputs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78892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3157D5"/>
                </a:solidFill>
                <a:latin typeface="Arial"/>
              </a:rPr>
              <a:t>0.6646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566160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fixed-k theme ARI; released texts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526280"/>
            <a:ext cx="4297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0">
                <a:solidFill>
                  <a:srgbClr val="1D2742"/>
                </a:solidFill>
                <a:latin typeface="Arial"/>
              </a:rPr>
              <a:t>4.28 s p50 · 93.8% pass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0">
                <a:solidFill>
                  <a:srgbClr val="1D2742"/>
                </a:solidFill>
                <a:latin typeface="Arial"/>
              </a:rPr>
              <a:t>Theme assignment: 92.0% released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SYNTHETIC · Rules + deterministic context; 15-min ticks. Zero median ≠ instant. Native clustering fragments; timing n=10.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The manager loop closes the circle</a:t>
            </a:r>
          </a:p>
        </p:txBody>
      </p:sp>
      <p:pic>
        <p:nvPicPr>
          <p:cNvPr id="3" name="Picture 2" descr="screen-man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592" y="1207008"/>
            <a:ext cx="5182334" cy="44805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60920" y="1463040"/>
            <a:ext cx="425196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71231" y="1627632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1D2742"/>
                </a:solidFill>
                <a:latin typeface="Arial"/>
              </a:rPr>
              <a:t>Themes shown as ranges: 3–5 people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2423160"/>
            <a:ext cx="425196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71231" y="2587752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0">
                <a:solidFill>
                  <a:srgbClr val="1D2742"/>
                </a:solidFill>
                <a:latin typeface="Arial"/>
              </a:rPr>
              <a:t>AI-drafted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3383280"/>
            <a:ext cx="425196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1" y="3547872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Reply through an anonymous 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4343400"/>
            <a:ext cx="425196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71231" y="4507992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Follow-up metric: before → 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From a concern to a manager response and a measurable follow-up.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Architecture on Huawei Cloud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16" y="1097280"/>
            <a:ext cx="10034567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Current: ECS + container PostgreSQL/Redis · Next: managed RDS/DCS and ModelArts MaaS inference.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Built with agents on Huawei Cloud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97480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157D5"/>
                </a:solidFill>
                <a:latin typeface="Arial"/>
              </a:rP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1D2742"/>
                </a:solidFill>
                <a:latin typeface="Arial"/>
              </a:rPr>
              <a:t>Contract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16936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6936" y="2697480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3157D5"/>
                </a:solidFill>
                <a:latin typeface="Arial"/>
              </a:rPr>
              <a:t>Code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16936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1D2742"/>
                </a:solidFill>
                <a:latin typeface="Arial"/>
              </a:rPr>
              <a:t>Parallel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1768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59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2697480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157D5"/>
                </a:solidFill>
                <a:latin typeface="Arial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59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1D2742"/>
                </a:solidFill>
                <a:latin typeface="Arial"/>
              </a:rPr>
              <a:t>FastAPI + Docker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92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5783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5783" y="2697480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157D5"/>
                </a:solidFill>
                <a:latin typeface="Arial"/>
              </a:rPr>
              <a:t>Troubleshoot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15783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1D2742"/>
                </a:solidFill>
                <a:latin typeface="Arial"/>
              </a:rPr>
              <a:t>Region / IAM fixes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0616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65208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65208" y="2697480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157D5"/>
                </a:solidFill>
                <a:latin typeface="Arial"/>
              </a:rPr>
              <a:t>Deploy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65208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1D2742"/>
                </a:solidFill>
                <a:latin typeface="Arial"/>
              </a:rPr>
              <a:t>ECS + Caddy + 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97680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6B4FD8"/>
                </a:solidFill>
                <a:latin typeface="Arial"/>
              </a:rPr>
              <a:t>Provisioning skill: VPC · ECS · RDS · DCS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29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skills/huawei-cloud-provision · RDS/DCS await IAM permissions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Privacy by design: PDPA considerations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62763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37744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Metadata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1688" y="146304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2855" y="162763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855" y="237744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Opt-in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0456" y="146304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21624" y="162763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21624" y="237744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Individual signals stay private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2900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359359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4340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Originals deleted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342900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359359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434340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Hashed identities; encrypted tokens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0456" y="342900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4" y="359359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434340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Honest limits for small teams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Design principles; no legal compliance certification is claimed.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Why we win: nobody acts for the employee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280160"/>
          <a:ext cx="1078992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017520"/>
                <a:gridCol w="5394960"/>
              </a:tblGrid>
              <a:tr h="624839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118872" marT="91440">
                    <a:solidFill>
                      <a:srgbClr val="E8ED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Examples</a:t>
                      </a:r>
                    </a:p>
                  </a:txBody>
                  <a:tcPr marL="118872" marT="91440">
                    <a:solidFill>
                      <a:srgbClr val="E8ED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What is missing for Thai teams</a:t>
                      </a:r>
                    </a:p>
                  </a:txBody>
                  <a:tcPr marL="118872" marT="91440">
                    <a:solidFill>
                      <a:srgbClr val="E8EDF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Anonymous surveys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Officevibe, TINYpulse, Lattice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Wait for people to fill in; no style hiding; no Thai/LINE; no automatic follow-up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Burnout analytics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Viva Insights, Uplevel, Erudit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Read message content (privacy criticism); do not act for the employee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Engineering metrics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LinearB, Swarmia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Process alerts, but not designed around kreng-jai; no anonymous channel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Thai HR systems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HumanSoft, HONO, MiHCM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Payroll, leave, appraisal forms; AI still on the roadmap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Kreng-jai Bridge</a:t>
                      </a:r>
                    </a:p>
                  </a:txBody>
                  <a:tcPr marL="118872" marT="91440">
                    <a:solidFill>
                      <a:srgbClr val="E5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this prototype</a:t>
                      </a:r>
                    </a:p>
                  </a:txBody>
                  <a:tcPr marL="118872" marT="91440">
                    <a:solidFill>
                      <a:srgbClr val="E5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Acts for the employee · attacker-tested anonymity* · Thai + LINE · follow-up metrics</a:t>
                      </a:r>
                    </a:p>
                  </a:txBody>
                  <a:tcPr marL="118872" marT="91440">
                    <a:solidFill>
                      <a:srgbClr val="E5F4E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0">
                <a:solidFill>
                  <a:srgbClr val="1D2742"/>
                </a:solidFill>
                <a:latin typeface="Arial"/>
              </a:rPr>
              <a:t>*Attacker-tested on SYNTHETIC data; anonymity is not established.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Competitor gaps from our desk research (public product pages and press, Oct 2026); to be re-verified before the regional stage.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Roadmap: validate with real teams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474720" cy="2971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Working demo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SYNTHETIC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1688" y="1463040"/>
            <a:ext cx="3474720" cy="2971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7373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Next 4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269748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Pilot: 2 teams; volunteer data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MaaS DeepSeek / Typhoon 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RDS / DCS; CodeArts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0456" y="1463040"/>
            <a:ext cx="3474720" cy="2971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49056" y="17373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Later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49056" y="269748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Lark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Multi-tenant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Calendar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1D2742"/>
                </a:solidFill>
                <a:latin typeface="Arial"/>
              </a:rPr>
              <a:t>Buyer: HR / CTO · Thai software houses and banks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Business hypothesis: use existing engagement-survey budgets.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200" b="1">
                <a:solidFill>
                  <a:srgbClr val="1D2742"/>
                </a:solidFill>
                <a:latin typeface="Arial"/>
              </a:rPr>
              <a:t>Kreng-jai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29000"/>
            <a:ext cx="66751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3157D5"/>
                </a:solidFill>
                <a:latin typeface="Arial"/>
              </a:rPr>
              <a:t>Live demo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3157D5"/>
                </a:solidFill>
                <a:latin typeface="Arial"/>
              </a:rPr>
              <a:t>https://119-13-81-32.sslip.io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3157D5"/>
                </a:solidFill>
                <a:latin typeface="Arial"/>
              </a:rPr>
              <a:t>LINE @075bvvrs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93</Words>
  <Application>WPS 演示</Application>
  <PresentationFormat>自定义</PresentationFormat>
  <Paragraphs>5</Paragraphs>
  <Slides>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Arial</vt:lpstr>
      <vt:lpstr>宋体</vt:lpstr>
      <vt:lpstr>Wingdings</vt:lpstr>
      <vt:lpstr>微软雅黑</vt:lpstr>
      <vt:lpstr>Arial Unicode MS</vt:lpstr>
      <vt:lpstr>Calibri</vt:lpstr>
      <vt:lpstr>等线</vt:lpstr>
      <vt:lpstr>Arial Black</vt:lpstr>
      <vt:lpstr>Huawei Sans</vt:lpstr>
      <vt:lpstr>封面页_图片版 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Niuhuan(Naomi)</dc:creator>
  <cp:lastModifiedBy>J60095567</cp:lastModifiedBy>
  <cp:revision>30</cp:revision>
  <dcterms:created xsi:type="dcterms:W3CDTF">2020-08-28T08:44:00Z</dcterms:created>
  <dcterms:modified xsi:type="dcterms:W3CDTF">2026-08-25T06:29:04Z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(3)jYYNeYqg9URZpIMFTCIdCeNVquPuEel+nDIRQAPIrqxIM5/g5oBljBFaM7g0G3UnNz5I+Lxl
3XzinOb8XrntK+5cii2s/5KHPjVzf2+eT3mkXei0qIqPydT3E9AVL+q4EyN8GFi16B7wafrk
4kKM5b+QlkGvEvrZjPSJu+gnMw7e5TCMMA4EFmF63Ml0dr3+nOPNvAa9KZcwTzlYVuij6jfG
g8y1IjQWMDwHw00j5e</vt:lpwstr>
  </property>
  <property fmtid="{D5CDD505-2E9C-101B-9397-08002B2CF9AE}" pid="3" name="_2015_ms_pID_7253431">
    <vt:lpwstr>H7ij+MfWkrtIywe4S+a0D9BcavELomSG2Ib18xpyvB9q0hdvxoTFcA
gBSOtSnelc6axUseSTlTOvrYN0dRtpTwq9jai4mvc90zFnFZ95NvYO9xJufYr9daOcrVzTqA
GLaIfnqxEKsMJa+WZsbxcLXVnwjEyMOlQVTIeSsuPg293uwzAsm52yuhwds5TG3iH8g9FsCF
fj4i37YlF4KE29z1CbP/AqQpgHM7wlZTKoEN</vt:lpwstr>
  </property>
  <property fmtid="{D5CDD505-2E9C-101B-9397-08002B2CF9AE}" pid="4" name="_2015_ms_pID_7253432">
    <vt:lpwstr>9g==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1598576536</vt:lpwstr>
  </property>
  <property fmtid="{D5CDD505-2E9C-101B-9397-08002B2CF9AE}" pid="9" name="KeyAssetLabel_HuaWei">
    <vt:lpwstr>{mB13CS4wiXdfg/K1XYdSNG8PcaW1V0}</vt:lpwstr>
  </property>
  <property fmtid="{D5CDD505-2E9C-101B-9397-08002B2CF9AE}" pid="10" name="_862901variable_0907_groupIDlong_2010">
    <vt:lpwstr>(1)mB13CS4wiXdfg/K1XYdSNG8PcaW1V0e2q8BrYa5isloMc4Oui+V9IDM9yxo1eYa+N97QSHNb
gZAKF0+ABMK0A1tP0b50SSzsxFmqadA10WrfNU0NFTFpgrS2WCf1pCxMMNjow1Hg6STPWuPE
C68EIdnVIoKirz7gPqcsfx6GsfA=</vt:lpwstr>
  </property>
  <property fmtid="{D5CDD505-2E9C-101B-9397-08002B2CF9AE}" pid="11" name="ICV">
    <vt:lpwstr>42A9F81936694585BCD0B8C4EB14B472_13</vt:lpwstr>
  </property>
  <property fmtid="{D5CDD505-2E9C-101B-9397-08002B2CF9AE}" pid="12" name="KSOProductBuildVer">
    <vt:lpwstr>2052-12.8.2.18205</vt:lpwstr>
  </property>
</Properties>
</file>