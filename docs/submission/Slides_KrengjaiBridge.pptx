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83" r:id="rId3"/>
    <p:sldId id="284" r:id="rId7"/>
    <p:sldId id="285" r:id="rId6"/>
    <p:sldId id="286" r:id="rId5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E8D0D622-F6C6-F44A-B365-B4A5FF6195C2}">
          <p14:sldIdLst>
            <p14:sldId id="283"/>
          </p14:sldIdLst>
        </p14:section>
        <p14:section name="Contents" id="{9D221634-295C-7843-AF5C-A0CB4F229241}">
          <p14:sldIdLst>
            <p14:sldId id="308"/>
          </p14:sldIdLst>
        </p14:section>
        <p14:section name="Main Content" id="{8B329A26-90A3-4BA4-87BF-D0343B7D7105}">
          <p14:sldIdLst>
            <p14:sldId id="307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95" d="100"/>
          <a:sy n="95" d="100"/>
        </p:scale>
        <p:origin x="34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Title** (template slide 1). Line 2 box: "Chulalongkorn University · [[Team Name]] · Kreng-jai Bridge".</a:t>
            </a:r>
          </a:p>
          <a:p>
            <a:r>
              <a:t>   Add subtitle: "An AI agent that speaks up for Thai teams — and proves the feedback can't be traced back."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The problem nobody says out loud**</a:t>
            </a:r>
          </a:p>
          <a:p>
            <a:r>
              <a:t>   Left: three moments (icons + one line each): "PR waits 3 days — the junior won't chase a senior",</a:t>
            </a:r>
          </a:p>
          <a:p>
            <a:r>
              <a:t>   "Blocker never mentioned in stand-up", "Urgent work lands at 17:30 every Friday".</a:t>
            </a:r>
          </a:p>
          <a:p>
            <a:r>
              <a:t>   Right: big stats — "50% of developers lose &gt;10 h/week to non-coding friction", "63% say leaders don't</a:t>
            </a:r>
          </a:p>
          <a:p>
            <a:r>
              <a:t>   understand their problems" (Atlassian DevEx 2025). Footer: "Kreng-jai keeps teams polite — and problems unsaid."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Why 'anonymous' tools fail in Thai teams**</a:t>
            </a:r>
          </a:p>
          <a:p>
            <a:r>
              <a:t>   Example card: "หนูไม่กล้าบอกพี่หัวหน้าค่ะ ว่าสั่งงานเย็นวันศุกร์ทำให้หนูต้องยกเลิกนัดตลอด" with หนู/ค่ะ/พี่ highlighted</a:t>
            </a:r>
          </a:p>
          <a:p>
            <a:r>
              <a:t>   in red → callout "1 word reveals gender + seniority". Bullets: "In a team of 5 the manager can guess the</a:t>
            </a:r>
          </a:p>
          <a:p>
            <a:r>
              <a:t>   writer", "Quarterly surveys are too late and never follow up", "Every tool waits for people to speak".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Our idea: the agent takes the hard-to-say role**</a:t>
            </a:r>
          </a:p>
          <a:p>
            <a:r>
              <a:t>   Three steps horizontally: Observe (SDLC metadata only) → Ask (private LINE message, the person decides) →</a:t>
            </a:r>
          </a:p>
          <a:p>
            <a:r>
              <a:t>   Act (neutral reminder or anonymous feedback). Line: "A bot has no seniority, no face to lose, no debt to anyone."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Live demo (video, 2:16)**</a:t>
            </a:r>
          </a:p>
          <a:p>
            <a:r>
              <a:t>   Embedded `../LiveDemo_Videos/2026-10-20_demo_edit.mp4` (outside the repo; `--video` overrides), poster</a:t>
            </a:r>
          </a:p>
          <a:p>
            <a:r>
              <a:t>   `assets/demo-poster.jpg`, click to play. Recorded on the live ECS server with Mint's real LINE chat.</a:t>
            </a:r>
          </a:p>
          <a:p>
            <a:r>
              <a:t>   Footer: the two teammates are simulated; waits are cut; YouTube link https://youtu.be/f4Op2MmzrTY. Slides 6 and 10 repeat what the video shows.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Demo story: two weeks of Mint**</a:t>
            </a:r>
          </a:p>
          <a:p>
            <a:r>
              <a:t>   Timeline (8 steps from the concept: Tue PR #123 → Thu 48 h trigger → LINE ask → neutral reminder w/o name →</a:t>
            </a:r>
          </a:p>
          <a:p>
            <a:r>
              <a:t>   Fri feedback → k=3 reached → Mon manager accepts 15:00 cut-off → +2 weeks Friday after-17 work 3 → 0).</a:t>
            </a:r>
          </a:p>
          <a:p>
            <a:r>
              <a:t>   Screenshot: `assets/screen-inbox.png` (LINE-style inbox).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Privacy pipeline: 6 steps, tested by an attacker**</a:t>
            </a:r>
          </a:p>
          <a:p>
            <a:r>
              <a:t>   Diagram of 6 steps (remove identifiers → neutralize Thai markers → rewrite ⇄ attacker → situation/impact/request</a:t>
            </a:r>
          </a:p>
          <a:p>
            <a:r>
              <a:t>   → k-gate (k=3) → themes). Before/after example: original (red markers) → "สถานการณ์: มีการมอบหมายงานในช่วงเย็นวันศุกร์ ·</a:t>
            </a:r>
          </a:p>
          <a:p>
            <a:r>
              <a:t>   ผลกระทบ: ต้องยกเลิกนัดหมายส่วนตัวอย่างต่อเนื่อง · สิ่งที่ขอ: พิจารณาปรับกระบวนการวางแผนงาน". Screenshot `assets/screen-pipeline.png`.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Results: anonymity you can measure**</a:t>
            </a:r>
          </a:p>
          <a:p>
            <a:r>
              <a:t>   Chart `eval/results/attacker_before_after.png` large. Callouts with the 3 strongest numbers from</a:t>
            </a:r>
          </a:p>
          <a:p>
            <a:r>
              <a:t>   results.json (author attribution before→after vs 5% chance; gender inference; marker leak). Footnote:</a:t>
            </a:r>
          </a:p>
          <a:p>
            <a:r>
              <a:t>   "Synthetic Thai dataset, 20 personas × 12 messages; pilot with real volunteers next."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Results: detection and meaning**</a:t>
            </a:r>
          </a:p>
          <a:p>
            <a:r>
              <a:t>   `eval/results/engine.png` + meaning stat (% judged ≥ 4/5) + theme clustering ARI + pipeline latency.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Manager loop closes the circle**</a:t>
            </a:r>
          </a:p>
          <a:p>
            <a:r>
              <a:t>   Screenshot `assets/screen-manager.png`. Bullets: themes as ranges (3–5 people), AI proposal, reply via</a:t>
            </a:r>
          </a:p>
          <a:p>
            <a:r>
              <a:t>   anonymous token, follow-up metric before → after.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Architecture on Huawei Cloud**</a:t>
            </a:r>
          </a:p>
          <a:p>
            <a:r>
              <a:t>    `assets/architecture.png` full width.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Built with AI agents on Huawei Cloud**</a:t>
            </a:r>
          </a:p>
          <a:p>
            <a:r>
              <a:t>    Lifecycle row: Requirement → Code generation → Build → Troubleshoot → Deploy, each with 1 line from entry-form §2</a:t>
            </a:r>
          </a:p>
          <a:p>
            <a:r>
              <a:t>    (contract-first; parallel coding agents; one FastAPI + Docker; region/IAM fixes; ECS + Caddy + LINE webhook).</a:t>
            </a:r>
          </a:p>
          <a:p>
            <a:r>
              <a:t>    Callout: "Agent skill provisions VPC · ECS · RDS · DCS in one command (`skills/huawei-cloud-provision`)".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Privacy by design (PDPA)**</a:t>
            </a:r>
          </a:p>
          <a:p>
            <a:r>
              <a:t>    6 rules as icon grid: metadata only · opt-in · individual signals only to the person · originals deleted ·</a:t>
            </a:r>
          </a:p>
          <a:p>
            <a:r>
              <a:t>    identities hashed, tokens encrypted · nothing reaches the manager below 3 people.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Why we win** — comparison table (rows: survey tools Officevibe/TINYpulse/Lattice; burnout analytics</a:t>
            </a:r>
          </a:p>
          <a:p>
            <a:r>
              <a:t>    Viva Insights/Uplevel; engineering metrics LinearB/Swarmia; Thai HR systems) × columns (acts for the employee,</a:t>
            </a:r>
          </a:p>
          <a:p>
            <a:r>
              <a:t>    tested anonymity, Thai language/LINE, closes the loop with metrics). Kreng-jai Bridge row all ✓.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Roadmap**</a:t>
            </a:r>
          </a:p>
          <a:p>
            <a:r>
              <a:t>    Now (demo) → Next 4 weeks: pilot with 2 real teams, real-volunteer D1 dataset, MaaS DeepSeek/Typhoon 2,</a:t>
            </a:r>
          </a:p>
          <a:p>
            <a:r>
              <a:t>    RDS/DCS via skill, CodeArts CI → Later: Lark, multi-tenant, calendar signals.</a:t>
            </a:r>
          </a:p>
          <a:p>
            <a:r>
              <a:t>    Business: buyer = HR / CTO of Thai software houses &amp; banks; uses existing engagement-survey budget.</a:t>
            </a:r>
          </a:p>
          <a:p/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source: docs/submission/deck.md</a:t>
            </a:r>
          </a:p>
          <a:p>
            <a:r>
              <a:t>End** (template end slide): "Thank you · Live demo: https://119-13-81-32.sslip.io · Video https://youtu.be/f4Op2MmzrTY · LINE @075bvvrs".</a:t>
            </a:r>
          </a:p>
          <a:p/>
          <a:p>
            <a:r>
              <a:t>Evaluation caveats: eval/results/REPORT.md. All experimental results are SYNTHETIC. All-output metrics include blocked texts; released-only theme metrics are explicitly labelled. Current measurements do not establish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6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（浅色版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炫光（浅色）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760855"/>
            <a:ext cx="12192000" cy="4523105"/>
          </a:xfrm>
          <a:prstGeom prst="rect">
            <a:avLst/>
          </a:prstGeom>
        </p:spPr>
      </p:pic>
      <p:pic>
        <p:nvPicPr>
          <p:cNvPr id="2" name="图片 1" descr="【主用】奔跑的人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16020" y="2538095"/>
            <a:ext cx="4540885" cy="2846070"/>
          </a:xfrm>
          <a:prstGeom prst="rect">
            <a:avLst/>
          </a:prstGeom>
        </p:spPr>
      </p:pic>
      <p:pic>
        <p:nvPicPr>
          <p:cNvPr id="18" name="图片 17" descr="D:/01.姜嘉伟/设计源文件/ICT大赛/总决赛第十届ICT大赛2025-2026设计/华为ICT大赛2025-2026 KV/KV元素 浅色/华为logo（浅色背景使用）.png华为logo（浅色背景使用）"/>
          <p:cNvPicPr>
            <a:picLocks noChangeAspect="1"/>
          </p:cNvPicPr>
          <p:nvPr userDrawn="1"/>
        </p:nvPicPr>
        <p:blipFill>
          <a:blip r:embed="rId5"/>
          <a:srcRect t="85" b="85"/>
          <a:stretch>
            <a:fillRect/>
          </a:stretch>
        </p:blipFill>
        <p:spPr>
          <a:xfrm>
            <a:off x="386715" y="375285"/>
            <a:ext cx="1501140" cy="328295"/>
          </a:xfrm>
          <a:prstGeom prst="rect">
            <a:avLst/>
          </a:prstGeom>
        </p:spPr>
      </p:pic>
      <p:pic>
        <p:nvPicPr>
          <p:cNvPr id="19" name="图片 18" descr="I. C. The Futur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297160" y="6313170"/>
            <a:ext cx="1516380" cy="17018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403985" y="1127125"/>
            <a:ext cx="9366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 spc="-100">
                <a:gradFill>
                  <a:gsLst>
                    <a:gs pos="0">
                      <a:srgbClr val="1065C5"/>
                    </a:gs>
                    <a:gs pos="100000">
                      <a:srgbClr val="00397B"/>
                    </a:gs>
                  </a:gsLst>
                  <a:lin ang="0" scaled="0"/>
                </a:gradFill>
                <a:uFillTx/>
                <a:latin typeface="Huawei Sans" panose="020C0503030203020204" charset="0"/>
                <a:cs typeface="Huawei Sans" panose="020C0503030203020204" charset="0"/>
              </a:rPr>
              <a:t>HUAWEI ICT COMPETITION 2026–2027</a:t>
            </a:r>
            <a:endParaRPr lang="en-US" altLang="zh-CN" sz="3200" b="1" spc="-100">
              <a:gradFill>
                <a:gsLst>
                  <a:gs pos="0">
                    <a:srgbClr val="1065C5"/>
                  </a:gs>
                  <a:gs pos="100000">
                    <a:srgbClr val="00397B"/>
                  </a:gs>
                </a:gsLst>
                <a:lin ang="0" scaled="0"/>
              </a:gradFill>
              <a:uFillTx/>
              <a:latin typeface="Huawei Sans" panose="020C0503030203020204" charset="0"/>
              <a:cs typeface="Huawei Sans" panose="020C050303020302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（浅色版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炫光（浅色）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334895"/>
            <a:ext cx="12192000" cy="4523105"/>
          </a:xfrm>
          <a:prstGeom prst="rect">
            <a:avLst/>
          </a:prstGeom>
        </p:spPr>
      </p:pic>
      <p:pic>
        <p:nvPicPr>
          <p:cNvPr id="6" name="图片 5" descr="【主用】奔跑的人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16020" y="3112135"/>
            <a:ext cx="4540885" cy="2846070"/>
          </a:xfrm>
          <a:prstGeom prst="rect">
            <a:avLst/>
          </a:prstGeom>
        </p:spPr>
      </p:pic>
      <p:pic>
        <p:nvPicPr>
          <p:cNvPr id="18" name="图片 17" descr="D:/01.姜嘉伟/设计源文件/ICT大赛/总决赛第十届ICT大赛2025-2026设计/华为ICT大赛2025-2026 KV/KV元素 浅色/华为logo（浅色背景使用）.png华为logo（浅色背景使用）"/>
          <p:cNvPicPr>
            <a:picLocks noChangeAspect="1"/>
          </p:cNvPicPr>
          <p:nvPr userDrawn="1"/>
        </p:nvPicPr>
        <p:blipFill>
          <a:blip r:embed="rId5"/>
          <a:srcRect t="85" b="85"/>
          <a:stretch>
            <a:fillRect/>
          </a:stretch>
        </p:blipFill>
        <p:spPr>
          <a:xfrm>
            <a:off x="386715" y="375285"/>
            <a:ext cx="1501140" cy="328295"/>
          </a:xfrm>
          <a:prstGeom prst="rect">
            <a:avLst/>
          </a:prstGeom>
        </p:spPr>
      </p:pic>
      <p:pic>
        <p:nvPicPr>
          <p:cNvPr id="19" name="图片 18" descr="I. C. The Futur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297160" y="6313170"/>
            <a:ext cx="1516380" cy="170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（浅色版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炫光（浅色）"/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b="25807"/>
          <a:stretch>
            <a:fillRect/>
          </a:stretch>
        </p:blipFill>
        <p:spPr>
          <a:xfrm>
            <a:off x="0" y="4289425"/>
            <a:ext cx="12192000" cy="2568575"/>
          </a:xfrm>
          <a:prstGeom prst="rect">
            <a:avLst/>
          </a:prstGeom>
        </p:spPr>
      </p:pic>
      <p:pic>
        <p:nvPicPr>
          <p:cNvPr id="19" name="图片 18" descr="I. C. The Futur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7160" y="6313170"/>
            <a:ext cx="1516380" cy="170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（浅色版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图片 15" descr="炫光（浅色）"/>
          <p:cNvPicPr>
            <a:picLocks noChangeAspect="1"/>
          </p:cNvPicPr>
          <p:nvPr userDrawn="1"/>
        </p:nvPicPr>
        <p:blipFill>
          <a:blip r:embed="rId3"/>
          <a:srcRect b="25807"/>
          <a:stretch>
            <a:fillRect/>
          </a:stretch>
        </p:blipFill>
        <p:spPr>
          <a:xfrm>
            <a:off x="0" y="4289425"/>
            <a:ext cx="12192000" cy="2568575"/>
          </a:xfrm>
          <a:prstGeom prst="rect">
            <a:avLst/>
          </a:prstGeom>
        </p:spPr>
      </p:pic>
      <p:pic>
        <p:nvPicPr>
          <p:cNvPr id="18" name="图片 17" descr="D:/01.姜嘉伟/设计源文件/ICT大赛/总决赛第十届ICT大赛2025-2026设计/华为ICT大赛2025-2026 KV/KV元素 浅色/华为logo（浅色背景使用）.png华为logo（浅色背景使用）"/>
          <p:cNvPicPr>
            <a:picLocks noChangeAspect="1"/>
          </p:cNvPicPr>
          <p:nvPr userDrawn="1"/>
        </p:nvPicPr>
        <p:blipFill>
          <a:blip r:embed="rId4"/>
          <a:srcRect t="85" b="85"/>
          <a:stretch>
            <a:fillRect/>
          </a:stretch>
        </p:blipFill>
        <p:spPr>
          <a:xfrm>
            <a:off x="386715" y="375285"/>
            <a:ext cx="1501140" cy="328295"/>
          </a:xfrm>
          <a:prstGeom prst="rect">
            <a:avLst/>
          </a:prstGeom>
        </p:spPr>
      </p:pic>
      <p:pic>
        <p:nvPicPr>
          <p:cNvPr id="19" name="图片 18" descr="I. C. The Futur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97160" y="6313170"/>
            <a:ext cx="1516380" cy="170180"/>
          </a:xfrm>
          <a:prstGeom prst="rect">
            <a:avLst/>
          </a:prstGeom>
        </p:spPr>
      </p:pic>
      <p:pic>
        <p:nvPicPr>
          <p:cNvPr id="2" name="图片 1" descr="【主用】奔跑的人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918575" y="4665345"/>
            <a:ext cx="2900680" cy="1818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背景（浅色版）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2693" y="730467"/>
            <a:ext cx="1134053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sz="3000" b="1">
                <a:solidFill>
                  <a:srgbClr val="1D2742"/>
                </a:solidFill>
                <a:latin typeface="Arial"/>
              </a:rPr>
              <a:t>Huawei ICT Competition 2026–2027</a:t>
            </a:r>
            <a:endParaRPr lang="en-US" altLang="zh-CN" sz="32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3000" b="1">
                <a:solidFill>
                  <a:srgbClr val="1D2742"/>
                </a:solidFill>
                <a:latin typeface="Arial"/>
              </a:rPr>
              <a:t>Innovation Competition</a:t>
            </a:r>
          </a:p>
        </p:txBody>
      </p:sp>
      <p:sp>
        <p:nvSpPr>
          <p:cNvPr id="3" name="矩形 2"/>
          <p:cNvSpPr/>
          <p:nvPr/>
        </p:nvSpPr>
        <p:spPr>
          <a:xfrm>
            <a:off x="502920" y="1993392"/>
            <a:ext cx="11155680" cy="5029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sz="2000" b="1">
                <a:solidFill>
                  <a:srgbClr val="1D2742"/>
                </a:solidFill>
                <a:latin typeface="Arial"/>
              </a:rPr>
              <a:t>Chulalongkorn University · </a:t>
            </a:r>
            <a:r>
              <a:rPr sz="2000" b="1">
                <a:solidFill>
                  <a:srgbClr val="1D2742"/>
                </a:solidFill>
                <a:highlight>
                  <a:srgbClr val="FFF176"/>
                </a:highlight>
                <a:latin typeface="Arial"/>
              </a:rPr>
              <a:t>[[TODO: team name]]</a:t>
            </a:r>
            <a:r>
              <a:rPr sz="2000" b="1">
                <a:solidFill>
                  <a:srgbClr val="1D2742"/>
                </a:solidFill>
                <a:latin typeface="Arial"/>
              </a:rPr>
              <a:t> · Kreng-jai Bridge</a:t>
            </a:r>
            <a:endParaRPr lang="en-US" altLang="zh-CN" sz="20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1D2742"/>
                </a:solidFill>
                <a:latin typeface="Arial"/>
              </a:rPr>
              <a:t>An AI agent that speaks up for Thai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With attacker-tested Thai feedback privacy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The problem nobody says out 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64008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6B4FD8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36776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0">
                <a:solidFill>
                  <a:srgbClr val="1D2742"/>
                </a:solidFill>
                <a:latin typeface="Arial"/>
              </a:rPr>
              <a:t>PR waits 3 days; the junior won’t chase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64008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6B4FD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71216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A blocker stays unsaid in stand-up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64008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6B4FD8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105656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Urgent work lands Friday at 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5087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200" b="1">
                <a:solidFill>
                  <a:srgbClr val="3157D5"/>
                </a:solidFill>
                <a:latin typeface="Arial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860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lose &gt;10 h/week to non-coding friction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4747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200" b="1">
                <a:solidFill>
                  <a:srgbClr val="3157D5"/>
                </a:solidFill>
                <a:latin typeface="Arial"/>
              </a:rPr>
              <a:t>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51959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say leaders don’t understand their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Atlassian DevEx 2025 · Kreng-jai keeps teams polite — and problems unsaid.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Why anonymous tools fail in Thai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6583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หนู</a:t>
            </a:r>
            <a:r>
              <a:rPr sz="24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ไม่กล้าบอก</a:t>
            </a:r>
            <a:r>
              <a:rPr sz="2400" b="0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พี่</a:t>
            </a:r>
            <a:r>
              <a:rPr sz="24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หัวหน้า</a:t>
            </a:r>
            <a:r>
              <a:rPr sz="2400" b="0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ค่ะ</a:t>
            </a:r>
            <a:r>
              <a:rPr sz="2400" b="0">
                <a:solidFill>
                  <a:srgbClr val="1D2742"/>
                </a:solidFill>
                <a:latin typeface="Arial"/>
              </a:rPr>
              <a:t> </a:t>
            </a:r>
            <a:r>
              <a:rPr sz="24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ว่าสั่งงานเย็นวันศุกร์ทำให้</a:t>
            </a:r>
            <a:r>
              <a:rPr sz="2400" b="0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หนู</a:t>
            </a:r>
            <a:r>
              <a:rPr sz="24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ต้องยกเลิกนัดตลอด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C7362F"/>
                </a:solidFill>
                <a:latin typeface="Arial"/>
              </a:rPr>
              <a:t>One word can reveal gender + seniority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Small teams make writers guessable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Quarterly surveys arrive too late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Tools wait for people to speak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The agent takes the hard-to-say role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SDLC metadata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874519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3108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1D2742"/>
                </a:solidFill>
                <a:latin typeface="Arial"/>
              </a:rPr>
              <a:t>Private LINE message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100" b="0">
                <a:solidFill>
                  <a:srgbClr val="1D2742"/>
                </a:solidFill>
                <a:latin typeface="Arial"/>
              </a:rPr>
              <a:t>The person decides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1874519"/>
            <a:ext cx="34747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856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31089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Neutral reminder or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1D2742"/>
                </a:solidFill>
                <a:latin typeface="Arial"/>
              </a:rPr>
              <a:t>anonymous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A bot has no seniority, no face to lose, no debt to anyone.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Live demo: Mint’s story in 2:16</a:t>
            </a:r>
          </a:p>
        </p:txBody>
      </p:sp>
      <p:pic>
        <p:nvPicPr>
          <p:cNvPr id="3" name="2026-10-20_demo_edi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35479" y="1097280"/>
            <a:ext cx="829056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Live Huawei Cloud server + real LINE chat · two teammates simulated · waits cut · https://youtu.be/f4Op2MmzrTY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Demo story: two weeks of Mint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49047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8132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Tue · PR #123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50008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0545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Thu · 48 h 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74136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53872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2958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Private LINE 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98264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5628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5371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Reminder; no requester 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325880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49047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148132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Fri ·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350008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250545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k = 3 reached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374136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1" y="353872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352958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Mon · 15:00 cut-off accepted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398264"/>
            <a:ext cx="3474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456285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6B4FD8"/>
                </a:solidFill>
                <a:latin typeface="Arial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79" y="455371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+2 weeks · Late-Friday work 3 → 0</a:t>
            </a:r>
          </a:p>
        </p:txBody>
      </p:sp>
      <p:pic>
        <p:nvPicPr>
          <p:cNvPr id="27" name="Picture 26" descr="screen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245" y="1188720"/>
            <a:ext cx="2531389" cy="4480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SYNTHETIC demo scenario · The 3 → 0 follow-up is simulated.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Six privacy steps, tested by an attacker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3157D5"/>
                </a:solidFill>
                <a:latin typeface="Arial"/>
              </a:rPr>
              <a:t>1. Remove identifiers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32588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8999" y="1463039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157D5"/>
                </a:solidFill>
                <a:latin typeface="Arial"/>
              </a:rPr>
              <a:t>2. Neutralize Thai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325880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39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3157D5"/>
                </a:solidFill>
                <a:latin typeface="Arial"/>
              </a:rPr>
              <a:t>3. Rewrite ⇄ attacker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3157D5"/>
                </a:solidFill>
                <a:latin typeface="Arial"/>
              </a:rPr>
              <a:t>4. Situation / impact /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2267712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240487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3157D5"/>
                </a:solidFill>
                <a:latin typeface="Arial"/>
              </a:rPr>
              <a:t>5. k-gate: 3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2267712"/>
            <a:ext cx="26060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404872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3157D5"/>
                </a:solidFill>
                <a:latin typeface="Arial"/>
              </a:rPr>
              <a:t>6. Cluster 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7680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หนู</a:t>
            </a:r>
            <a:r>
              <a:rPr sz="2200" b="1">
                <a:solidFill>
                  <a:srgbClr val="C7362F"/>
                </a:solidFill>
                <a:latin typeface="Arial"/>
              </a:rPr>
              <a:t> / </a:t>
            </a:r>
            <a:r>
              <a:rPr sz="2200" b="1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ค่ะ</a:t>
            </a:r>
            <a:r>
              <a:rPr sz="2200" b="1">
                <a:solidFill>
                  <a:srgbClr val="C7362F"/>
                </a:solidFill>
                <a:latin typeface="Arial"/>
              </a:rPr>
              <a:t> / </a:t>
            </a:r>
            <a:r>
              <a:rPr sz="2200" b="1">
                <a:solidFill>
                  <a:srgbClr val="C7362F"/>
                </a:solidFill>
                <a:latin typeface="Leelawadee UI"/>
                <a:ea typeface="Leelawadee UI"/>
                <a:cs typeface="Leelawadee UI"/>
              </a:rPr>
              <a:t>พี่</a:t>
            </a:r>
            <a:r>
              <a:rPr sz="2200" b="1">
                <a:solidFill>
                  <a:srgbClr val="C7362F"/>
                </a:solidFill>
                <a:latin typeface="Arial"/>
              </a:rPr>
              <a:t>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50208"/>
            <a:ext cx="7772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  <a:r>
              <a:rPr sz="1500" b="0">
                <a:solidFill>
                  <a:srgbClr val="1D2742"/>
                </a:solidFill>
                <a:latin typeface="Arial"/>
              </a:rPr>
              <a:t>: </a:t>
            </a: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มีการมอบหมายงานในช่วงเย็นวันศุกร์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  <a:r>
              <a:rPr sz="1500" b="0">
                <a:solidFill>
                  <a:srgbClr val="1D2742"/>
                </a:solidFill>
                <a:latin typeface="Arial"/>
              </a:rPr>
              <a:t>: </a:t>
            </a: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ต้องยกเลิกนัดหมายส่วนตัวอย่างต่อเนื่อง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สิ่งที่ขอ</a:t>
            </a:r>
            <a:r>
              <a:rPr sz="1500" b="0">
                <a:solidFill>
                  <a:srgbClr val="1D2742"/>
                </a:solidFill>
                <a:latin typeface="Arial"/>
              </a:rPr>
              <a:t>: </a:t>
            </a:r>
            <a:r>
              <a:rPr sz="1500" b="0">
                <a:solidFill>
                  <a:srgbClr val="1D2742"/>
                </a:solidFill>
                <a:latin typeface="Leelawadee UI"/>
                <a:ea typeface="Leelawadee UI"/>
                <a:cs typeface="Leelawadee UI"/>
              </a:rPr>
              <a:t>พิจารณาปรับกระบวนการวางแผนงาน</a:t>
            </a:r>
          </a:p>
        </p:txBody>
      </p:sp>
      <p:pic>
        <p:nvPicPr>
          <p:cNvPr id="17" name="Picture 16" descr="screen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758716"/>
            <a:ext cx="2560320" cy="34320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The user previews and confirms; an unsafe rewrite is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Results: measure privacy, acknowledge the limits</a:t>
            </a:r>
          </a:p>
        </p:txBody>
      </p:sp>
      <p:pic>
        <p:nvPicPr>
          <p:cNvPr id="3" name="Picture 2" descr="attacker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8770"/>
            <a:ext cx="7452360" cy="3726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23444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3157D5"/>
                </a:solidFill>
                <a:latin typeface="Arial"/>
              </a:rPr>
              <a:t>3.8%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201168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author identified by stylometry (was 100.0%; chance 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1576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3157D5"/>
                </a:solidFill>
                <a:latin typeface="Arial"/>
              </a:rPr>
              <a:t>46.2%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3493008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gender guessed correctly (was 93.8%; chance 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419709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3157D5"/>
                </a:solidFill>
                <a:latin typeface="Arial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9743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texts with Thai gender/seniority markers (was 95.0%)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SYNTHETIC · 20 personas × 12 messages; 80 test outputs · LLM attacker 7.5% vs 5.0% chance. No anonymity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Results: detection and meaning</a:t>
            </a:r>
          </a:p>
        </p:txBody>
      </p:sp>
      <p:pic>
        <p:nvPicPr>
          <p:cNvPr id="3" name="Picture 2" descr="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4751"/>
            <a:ext cx="6537960" cy="392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200" b="1">
                <a:solidFill>
                  <a:srgbClr val="3157D5"/>
                </a:solidFill>
                <a:latin typeface="Arial"/>
              </a:rPr>
              <a:t>57.5%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05740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meaning judged ≥ 4/5; all 80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7889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4200" b="1">
                <a:solidFill>
                  <a:srgbClr val="3157D5"/>
                </a:solidFill>
                <a:latin typeface="Arial"/>
              </a:rPr>
              <a:t>0.6646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566160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fixed-k theme ARI; released texts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52628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0">
                <a:solidFill>
                  <a:srgbClr val="1D2742"/>
                </a:solidFill>
                <a:latin typeface="Arial"/>
              </a:rPr>
              <a:t>4.28 s p50 · 93.8% pass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0">
                <a:solidFill>
                  <a:srgbClr val="1D2742"/>
                </a:solidFill>
                <a:latin typeface="Arial"/>
              </a:rPr>
              <a:t>Theme assignment: 92.0% released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SYNTHETIC · Rules + deterministic context; 15-min ticks. Zero median ≠ instant. Native clustering fragments; timing n=10.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The manager loop closes the circle</a:t>
            </a:r>
          </a:p>
        </p:txBody>
      </p:sp>
      <p:pic>
        <p:nvPicPr>
          <p:cNvPr id="3" name="Picture 2" descr="screen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08" y="1207008"/>
            <a:ext cx="6308102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60920" y="1463040"/>
            <a:ext cx="4251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71231" y="162763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D2742"/>
                </a:solidFill>
                <a:latin typeface="Arial"/>
              </a:rPr>
              <a:t>Themes shown as ranges: 3–5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2423160"/>
            <a:ext cx="4251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258775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900" b="0">
                <a:solidFill>
                  <a:srgbClr val="1D2742"/>
                </a:solidFill>
                <a:latin typeface="Arial"/>
              </a:rPr>
              <a:t>AI-drafted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3383280"/>
            <a:ext cx="4251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354787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Reply through an anonymous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343400"/>
            <a:ext cx="4251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450799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1D2742"/>
                </a:solidFill>
                <a:latin typeface="Arial"/>
              </a:rPr>
              <a:t>Follow-up metric: before →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From a concern to a manager response and a measurable follow-up.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Architecture on Huawei Cloud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14" y="1097280"/>
            <a:ext cx="97927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Current: ECS + container PostgreSQL/Redis · Next: managed RDS/DCS and ModelArts MaaS inference.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Built with agents on Huawei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2084831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9019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6974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157D5"/>
                </a:solidFill>
                <a:latin typeface="Arial"/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D2742"/>
                </a:solidFill>
                <a:latin typeface="Arial"/>
              </a:rPr>
              <a:t>Contract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1691640"/>
            <a:ext cx="2084831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6936" y="19019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6936" y="26974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3157D5"/>
                </a:solidFill>
                <a:latin typeface="Arial"/>
              </a:rPr>
              <a:t>Code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D2742"/>
                </a:solidFill>
                <a:latin typeface="Arial"/>
              </a:rPr>
              <a:t>Parallel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1691640"/>
            <a:ext cx="2084831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19019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6974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157D5"/>
                </a:solidFill>
                <a:latin typeface="Arial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1D2742"/>
                </a:solidFill>
                <a:latin typeface="Arial"/>
              </a:rPr>
              <a:t>FastAPI + 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1192" y="1691640"/>
            <a:ext cx="2084831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19019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3" y="26974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157D5"/>
                </a:solidFill>
                <a:latin typeface="Arial"/>
              </a:rPr>
              <a:t>Troubleshoot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1D2742"/>
                </a:solidFill>
                <a:latin typeface="Arial"/>
              </a:rPr>
              <a:t>Region / IAM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0616" y="1691640"/>
            <a:ext cx="2084831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9019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9A7C9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69748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3157D5"/>
                </a:solidFill>
                <a:latin typeface="Arial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320040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1D2742"/>
                </a:solidFill>
                <a:latin typeface="Arial"/>
              </a:rPr>
              <a:t>ECS + Caddy +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6B4FD8"/>
                </a:solidFill>
                <a:latin typeface="Arial"/>
              </a:rPr>
              <a:t>Provisioning skill: VPC · ECS · RDS · DCS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skills/huawei-cloud-provision · RDS/DCS await IAM permissions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Privacy by design: PDPA 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62763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37744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Metadata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5" y="162763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5" y="237744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Opt-in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0456" y="146304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1624" y="162763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1624" y="237744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Individual signals stay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9359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3434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Originals deleted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4290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359359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43434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Hashed identities; encrypted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342900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359359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900" b="1">
                <a:solidFill>
                  <a:srgbClr val="1F6F5C"/>
                </a:solidFill>
                <a:latin typeface="Arial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43434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Nothing below 3 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Design principles; no legal compliance certification is claimed.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Why we win: nobody acts for the employee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10789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5394960"/>
              </a:tblGrid>
              <a:tr h="62483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18872" marT="91440">
                    <a:solidFill>
                      <a:srgbClr val="E8E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marL="118872" marT="91440">
                    <a:solidFill>
                      <a:srgbClr val="E8E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What is missing for Thai teams</a:t>
                      </a:r>
                    </a:p>
                  </a:txBody>
                  <a:tcPr marL="118872" marT="91440">
                    <a:solidFill>
                      <a:srgbClr val="E8EDF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Anonymous surveys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Officevibe, TINYpulse, Lattice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Wait for people to fill in; no style hiding; no Thai/LINE; no automatic follow-up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Burnout analytics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Viva Insights, Uplevel, Erudit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Read message content (privacy criticism); do not act for the employee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Engineering metrics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LinearB, Swarmia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Process alerts, but not designed around kreng-jai; no anonymous channel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Thai HR systems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HumanSoft, HONO, MiHCM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2742"/>
                          </a:solidFill>
                          <a:latin typeface="Arial"/>
                        </a:rPr>
                        <a:t>Payroll, leave, appraisal forms; AI still on the roadmap</a:t>
                      </a:r>
                    </a:p>
                  </a:txBody>
                  <a:tcPr marL="118872" marT="91440"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Kreng-jai Bridge</a:t>
                      </a:r>
                    </a:p>
                  </a:txBody>
                  <a:tcPr marL="118872" marT="91440">
                    <a:solidFill>
                      <a:srgbClr val="E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this prototype</a:t>
                      </a:r>
                    </a:p>
                  </a:txBody>
                  <a:tcPr marL="118872" marT="91440">
                    <a:solidFill>
                      <a:srgbClr val="E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2742"/>
                          </a:solidFill>
                          <a:latin typeface="Arial"/>
                        </a:rPr>
                        <a:t>Acts for the employee · attacker-tested anonymity* · Thai + LINE · follow-up metrics</a:t>
                      </a:r>
                    </a:p>
                  </a:txBody>
                  <a:tcPr marL="118872" marT="91440">
                    <a:solidFill>
                      <a:srgbClr val="E5F4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742"/>
                </a:solidFill>
                <a:latin typeface="Arial"/>
              </a:rPr>
              <a:t>*Attacker-tested on SYNTHETIC data; anonymity is not established.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Competitor gaps from our desk research (public product pages and press, Oct 2026); to be re-verified before the regional stage.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D2742"/>
                </a:solidFill>
                <a:latin typeface="Arial"/>
              </a:rPr>
              <a:t>Roadmap: validate with real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34747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Working demo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SYNTHETIC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463040"/>
            <a:ext cx="34747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373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Next 4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6974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Pilot: 2 teams; volunteer data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MaaS DeepSeek / Typhoon 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1D2742"/>
                </a:solidFill>
                <a:latin typeface="Arial"/>
              </a:rPr>
              <a:t>RDS / DCS; CodeArts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0456" y="1463040"/>
            <a:ext cx="347472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9056" y="17373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3157D5"/>
                </a:solidFill>
                <a:latin typeface="Arial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26974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Lark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Multi-tenant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1D2742"/>
                </a:solidFill>
                <a:latin typeface="Arial"/>
              </a:rPr>
              <a:t>Calendar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D2742"/>
                </a:solidFill>
                <a:latin typeface="Arial"/>
              </a:rPr>
              <a:t>Buyer: HR / CTO · Thai software houses and banks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97880"/>
            <a:ext cx="11018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C5570"/>
                </a:solidFill>
                <a:latin typeface="Arial"/>
              </a:rPr>
              <a:t>Business hypothesis: use existing engagement-survey budgets.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3200" b="1">
                <a:solidFill>
                  <a:srgbClr val="1D2742"/>
                </a:solidFill>
                <a:latin typeface="Arial"/>
              </a:rPr>
              <a:t>Kreng-jai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29000"/>
            <a:ext cx="6675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157D5"/>
                </a:solidFill>
                <a:latin typeface="Arial"/>
              </a:rPr>
              <a:t>Live demo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157D5"/>
                </a:solidFill>
                <a:latin typeface="Arial"/>
              </a:rPr>
              <a:t>https://119-13-81-32.sslip.io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157D5"/>
                </a:solidFill>
                <a:latin typeface="Arial"/>
              </a:rPr>
              <a:t>Video https://youtu.be/f4Op2MmzrTY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3157D5"/>
                </a:solidFill>
                <a:latin typeface="Arial"/>
              </a:rPr>
              <a:t>LINE @075bvvrs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93</Words>
  <Application>WPS 演示</Application>
  <PresentationFormat>自定义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等线</vt:lpstr>
      <vt:lpstr>Arial Black</vt:lpstr>
      <vt:lpstr>Huawei Sans</vt:lpstr>
      <vt:lpstr>封面页_图片版 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J60095567</cp:lastModifiedBy>
  <cp:revision>30</cp:revision>
  <dcterms:created xsi:type="dcterms:W3CDTF">2020-08-28T08:44:00Z</dcterms:created>
  <dcterms:modified xsi:type="dcterms:W3CDTF">2026-08-25T06:29:04Z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  <property fmtid="{D5CDD505-2E9C-101B-9397-08002B2CF9AE}" pid="11" name="ICV">
    <vt:lpwstr>42A9F81936694585BCD0B8C4EB14B472_13</vt:lpwstr>
  </property>
  <property fmtid="{D5CDD505-2E9C-101B-9397-08002B2CF9AE}" pid="12" name="KSOProductBuildVer">
    <vt:lpwstr>2052-12.8.2.18205</vt:lpwstr>
  </property>
</Properties>
</file>